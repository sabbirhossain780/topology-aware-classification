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3A5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3A5C"/>
                </a:solidFill>
                <a:latin typeface="Arial"/>
              </a:rPr>
              <a:t>KMeans Silhouette Score (k=2) by Version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Silhouette at k=2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B263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563A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7C8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822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V1
(1km/drive/imposed)</c:v>
                  </c:pt>
                  <c:pt idx="1">
                    <c:v>V2
(1km/all/imposed)</c:v>
                  </c:pt>
                  <c:pt idx="2">
                    <c:v>V3
(1km/all/data-driven)</c:v>
                  </c:pt>
                  <c:pt idx="3">
                    <c:v>V4
(2km/all/data-driven)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0.366</c:v>
                </c:pt>
                <c:pt idx="1">
                  <c:v>0.42</c:v>
                </c:pt>
                <c:pt idx="2">
                  <c:v>0.408</c:v>
                </c:pt>
                <c:pt idx="3">
                  <c:v>0.551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200" u="none">
                  <a:solidFill>
                    <a:srgbClr val="1B263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3A5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3A5C"/>
                </a:solidFill>
                <a:latin typeface="Arial"/>
              </a:rPr>
              <a:t>Cluster Split % by Version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Majority</c:v>
                </c:pt>
              </c:strCache>
            </c:strRef>
          </c:tx>
          <c:spPr>
            <a:solidFill>
              <a:srgbClr val="1B3A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V1</c:v>
                  </c:pt>
                  <c:pt idx="1">
                    <c:v>V2</c:v>
                  </c:pt>
                  <c:pt idx="2">
                    <c:v>V3</c:v>
                  </c:pt>
                  <c:pt idx="3">
                    <c:v>V4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</c:v>
                </c:pt>
                <c:pt idx="1">
                  <c:v>79</c:v>
                </c:pt>
                <c:pt idx="2">
                  <c:v>78</c:v>
                </c:pt>
                <c:pt idx="3">
                  <c:v>91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Minority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V1</c:v>
                  </c:pt>
                  <c:pt idx="1">
                    <c:v>V2</c:v>
                  </c:pt>
                  <c:pt idx="2">
                    <c:v>V3</c:v>
                  </c:pt>
                  <c:pt idx="3">
                    <c:v>V4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43</c:v>
                </c:pt>
                <c:pt idx="1">
                  <c:v>21</c:v>
                </c:pt>
                <c:pt idx="2">
                  <c:v>22</c:v>
                </c:pt>
                <c:pt idx="3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822A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73152"/>
          </a:xfrm>
          <a:prstGeom prst="rect">
            <a:avLst/>
          </a:prstGeom>
          <a:solidFill>
            <a:srgbClr val="D4822A"/>
          </a:solidFill>
          <a:ln/>
        </p:spPr>
      </p:sp>
      <p:sp>
        <p:nvSpPr>
          <p:cNvPr id="4" name="Shape 2"/>
          <p:cNvSpPr/>
          <p:nvPr/>
        </p:nvSpPr>
        <p:spPr>
          <a:xfrm>
            <a:off x="6949440" y="27432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278624" y="27432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607808" y="27432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36992" y="27432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266176" y="27432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595360" y="27432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949440" y="82296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278624" y="82296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607808" y="82296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936992" y="82296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266176" y="82296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595360" y="82296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949440" y="137160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278624" y="137160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607808" y="137160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936992" y="137160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266176" y="137160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595360" y="137160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949440" y="192024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278624" y="192024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607808" y="192024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936992" y="192024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266176" y="192024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595360" y="192024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949440" y="246888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278624" y="246888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607808" y="246888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936992" y="246888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266176" y="246888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595360" y="246888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64008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Topology-Aware Framework for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65760" y="1097280"/>
            <a:ext cx="6858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Intra-Urban Transport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 Targeting</a:t>
            </a:r>
            <a:endParaRPr lang="en-US" sz="4200" dirty="0"/>
          </a:p>
        </p:txBody>
      </p:sp>
      <p:sp>
        <p:nvSpPr>
          <p:cNvPr id="36" name="Text 34"/>
          <p:cNvSpPr/>
          <p:nvPr/>
        </p:nvSpPr>
        <p:spPr>
          <a:xfrm>
            <a:off x="365760" y="2606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82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Dhaka, Bangladesh</a:t>
            </a:r>
            <a:endParaRPr lang="en-US" sz="2400" dirty="0"/>
          </a:p>
        </p:txBody>
      </p:sp>
      <p:sp>
        <p:nvSpPr>
          <p:cNvPr id="37" name="Shape 35"/>
          <p:cNvSpPr/>
          <p:nvPr/>
        </p:nvSpPr>
        <p:spPr>
          <a:xfrm>
            <a:off x="365760" y="3108960"/>
            <a:ext cx="5486400" cy="27432"/>
          </a:xfrm>
          <a:prstGeom prst="rect">
            <a:avLst/>
          </a:prstGeom>
          <a:solidFill>
            <a:srgbClr val="CADCFC">
              <a:alpha val="5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32004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Four-Version Comparative Analysis of Road Network Topology Clustering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6576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Mehzad Galib  |  Md. Sabbir Hossain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65760" y="4343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 University of Engineering and Technology (BUET)  ·  February 2026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65760" y="4709160"/>
            <a:ext cx="1920240" cy="329184"/>
          </a:xfrm>
          <a:prstGeom prst="rect">
            <a:avLst/>
          </a:prstGeom>
          <a:solidFill>
            <a:srgbClr val="2B4F7A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470916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82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V1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68680" y="470916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1km/Drive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514600" y="4709160"/>
            <a:ext cx="1920240" cy="329184"/>
          </a:xfrm>
          <a:prstGeom prst="rect">
            <a:avLst/>
          </a:prstGeom>
          <a:solidFill>
            <a:srgbClr val="2B4F7A"/>
          </a:solidFill>
          <a:ln/>
        </p:spPr>
      </p:sp>
      <p:sp>
        <p:nvSpPr>
          <p:cNvPr id="45" name="Text 43"/>
          <p:cNvSpPr/>
          <p:nvPr/>
        </p:nvSpPr>
        <p:spPr>
          <a:xfrm>
            <a:off x="2514600" y="470916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82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V2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017520" y="470916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1km/All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663440" y="4709160"/>
            <a:ext cx="1920240" cy="329184"/>
          </a:xfrm>
          <a:prstGeom prst="rect">
            <a:avLst/>
          </a:prstGeom>
          <a:solidFill>
            <a:srgbClr val="2B4F7A"/>
          </a:solidFill>
          <a:ln/>
        </p:spPr>
      </p:sp>
      <p:sp>
        <p:nvSpPr>
          <p:cNvPr id="48" name="Text 46"/>
          <p:cNvSpPr/>
          <p:nvPr/>
        </p:nvSpPr>
        <p:spPr>
          <a:xfrm>
            <a:off x="4663440" y="470916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82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V3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166360" y="470916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812280" y="4709160"/>
            <a:ext cx="1920240" cy="329184"/>
          </a:xfrm>
          <a:prstGeom prst="rect">
            <a:avLst/>
          </a:prstGeom>
          <a:solidFill>
            <a:srgbClr val="2B4F7A"/>
          </a:solidFill>
          <a:ln/>
        </p:spPr>
      </p:sp>
      <p:sp>
        <p:nvSpPr>
          <p:cNvPr id="51" name="Text 49"/>
          <p:cNvSpPr/>
          <p:nvPr/>
        </p:nvSpPr>
        <p:spPr>
          <a:xfrm>
            <a:off x="6812280" y="470916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82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V4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315200" y="470916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2km Grid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Dhaka — Why This City Matters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868680"/>
            <a:ext cx="19659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68680"/>
            <a:ext cx="196596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" y="1033272"/>
            <a:ext cx="196596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22M+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56032" y="1609344"/>
            <a:ext cx="1965960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Metropolitan Population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868680"/>
            <a:ext cx="19659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0" y="868680"/>
            <a:ext cx="1965960" cy="54864"/>
          </a:xfrm>
          <a:prstGeom prst="rect">
            <a:avLst/>
          </a:prstGeom>
          <a:solidFill>
            <a:srgbClr val="2563AB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1033272"/>
            <a:ext cx="196596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563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 km/km²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468880" y="1609344"/>
            <a:ext cx="1965960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Road Density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81728" y="868680"/>
            <a:ext cx="19659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81728" y="868680"/>
            <a:ext cx="1965960" cy="54864"/>
          </a:xfrm>
          <a:prstGeom prst="rect">
            <a:avLst/>
          </a:prstGeom>
          <a:solidFill>
            <a:srgbClr val="D4822A"/>
          </a:solidFill>
          <a:ln/>
        </p:spPr>
      </p:sp>
      <p:sp>
        <p:nvSpPr>
          <p:cNvPr id="14" name="Text 12"/>
          <p:cNvSpPr/>
          <p:nvPr/>
        </p:nvSpPr>
        <p:spPr>
          <a:xfrm>
            <a:off x="4681728" y="1033272"/>
            <a:ext cx="196596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82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400 Years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681728" y="1609344"/>
            <a:ext cx="1965960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Urban History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94576" y="868680"/>
            <a:ext cx="19659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94576" y="868680"/>
            <a:ext cx="1965960" cy="54864"/>
          </a:xfrm>
          <a:prstGeom prst="rect">
            <a:avLst/>
          </a:prstGeom>
          <a:solidFill>
            <a:srgbClr val="0D7C8C"/>
          </a:solidFill>
          <a:ln/>
        </p:spPr>
      </p:sp>
      <p:sp>
        <p:nvSpPr>
          <p:cNvPr id="18" name="Text 16"/>
          <p:cNvSpPr/>
          <p:nvPr/>
        </p:nvSpPr>
        <p:spPr>
          <a:xfrm>
            <a:off x="6894576" y="1033272"/>
            <a:ext cx="196596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7C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distinct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894576" y="1609344"/>
            <a:ext cx="1965960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Morphological Logics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" y="2286000"/>
            <a:ext cx="41605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2377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1480" y="2788920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Dhaka grew through 400 years of largely unplanned organic densification punctuated by discontinuous RAJUK planned interventions.
</a:t>
            </a:r>
            <a:pPr indent="0" marL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Western archetype frameworks (Maze / Grid / Radial / Periphery) assume morphologically segregated zones — something Dhaka fundamentally does not have.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2286000"/>
            <a:ext cx="41605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2377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Morphological Logics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46320" y="2788920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River-Radial</a:t>
            </a:r>
            <a:pPr indent="0" marL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Roads radiating from Buriganga ghats
</a:t>
            </a:r>
            <a:pPr indent="0" marL="0">
              <a:buNone/>
            </a:pPr>
            <a:r>
              <a:rPr lang="en-US" sz="1200" b="1" dirty="0">
                <a:solidFill>
                  <a:srgbClr val="256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Moghul Organic</a:t>
            </a:r>
            <a:pPr indent="0" marL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Dense goli lane networks, bazaar spines
</a:t>
            </a:r>
            <a:pPr indent="0" marL="0">
              <a:buNone/>
            </a:pPr>
            <a:r>
              <a:rPr lang="en-US" sz="12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RAJUK Sector Grid</a:t>
            </a:r>
            <a:pPr indent="0" marL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Post-1947 planned residential zones
</a:t>
            </a:r>
            <a:pPr indent="0" marL="0">
              <a:buNone/>
            </a:pPr>
            <a:r>
              <a:rPr lang="en-US" sz="1200" b="1" dirty="0">
                <a:solidFill>
                  <a:srgbClr val="D4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Ribbon Corridor</a:t>
            </a:r>
            <a:pPr indent="0" marL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Linear development along arterials
</a:t>
            </a:r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Infill</a:t>
            </a:r>
            <a:pPr indent="0" marL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Ad-hoc densification of agricultural plots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Original Research Proposal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 unsupervised graph clustering reveal discrete morphological archetypes in Dhaka's road network?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56032" y="1417320"/>
            <a:ext cx="2606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417320"/>
            <a:ext cx="502920" cy="14173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8288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50392" y="1508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OSM Extract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0392" y="19202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network_type='drive'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bbox: 23.65–23.85°N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62072" y="1938528"/>
            <a:ext cx="338328" cy="54864"/>
          </a:xfrm>
          <a:prstGeom prst="rect">
            <a:avLst/>
          </a:prstGeom>
          <a:solidFill>
            <a:srgbClr val="D4822A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0" y="1417320"/>
            <a:ext cx="2606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417320"/>
            <a:ext cx="502920" cy="14173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3218688" y="18288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794760" y="1508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1km Grid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94760" y="19202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800m buffer per cell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06440" y="1938528"/>
            <a:ext cx="338328" cy="54864"/>
          </a:xfrm>
          <a:prstGeom prst="rect">
            <a:avLst/>
          </a:prstGeom>
          <a:solidFill>
            <a:srgbClr val="D4822A"/>
          </a:solidFill>
          <a:ln/>
        </p:spPr>
      </p:sp>
      <p:sp>
        <p:nvSpPr>
          <p:cNvPr id="17" name="Shape 15"/>
          <p:cNvSpPr/>
          <p:nvPr/>
        </p:nvSpPr>
        <p:spPr>
          <a:xfrm>
            <a:off x="6144768" y="1417320"/>
            <a:ext cx="2606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44768" y="1417320"/>
            <a:ext cx="502920" cy="14173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6163056" y="18288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739128" y="1508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 Features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39128" y="19202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per subgraph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56032" y="3108960"/>
            <a:ext cx="2606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6032" y="3108960"/>
            <a:ext cx="502920" cy="14173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35204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50392" y="3200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PCA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50392" y="36118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variance retained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862072" y="3630168"/>
            <a:ext cx="338328" cy="54864"/>
          </a:xfrm>
          <a:prstGeom prst="rect">
            <a:avLst/>
          </a:prstGeom>
          <a:solidFill>
            <a:srgbClr val="D4822A"/>
          </a:solidFill>
          <a:ln/>
        </p:spPr>
      </p:sp>
      <p:sp>
        <p:nvSpPr>
          <p:cNvPr id="28" name="Shape 26"/>
          <p:cNvSpPr/>
          <p:nvPr/>
        </p:nvSpPr>
        <p:spPr>
          <a:xfrm>
            <a:off x="3200400" y="3108960"/>
            <a:ext cx="2606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3108960"/>
            <a:ext cx="502920" cy="14173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0" name="Text 28"/>
          <p:cNvSpPr/>
          <p:nvPr/>
        </p:nvSpPr>
        <p:spPr>
          <a:xfrm>
            <a:off x="3218688" y="35204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3794760" y="3200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K-Means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794760" y="36118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Silhouette/CH selection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806440" y="3630168"/>
            <a:ext cx="338328" cy="54864"/>
          </a:xfrm>
          <a:prstGeom prst="rect">
            <a:avLst/>
          </a:prstGeom>
          <a:solidFill>
            <a:srgbClr val="D4822A"/>
          </a:solidFill>
          <a:ln/>
        </p:spPr>
      </p:sp>
      <p:sp>
        <p:nvSpPr>
          <p:cNvPr id="34" name="Shape 32"/>
          <p:cNvSpPr/>
          <p:nvPr/>
        </p:nvSpPr>
        <p:spPr>
          <a:xfrm>
            <a:off x="6144768" y="3108960"/>
            <a:ext cx="2606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44768" y="3108960"/>
            <a:ext cx="502920" cy="1417320"/>
          </a:xfrm>
          <a:prstGeom prst="rect">
            <a:avLst/>
          </a:prstGeom>
          <a:solidFill>
            <a:srgbClr val="D4822A"/>
          </a:solidFill>
          <a:ln/>
        </p:spPr>
      </p:sp>
      <p:sp>
        <p:nvSpPr>
          <p:cNvPr id="36" name="Text 34"/>
          <p:cNvSpPr/>
          <p:nvPr/>
        </p:nvSpPr>
        <p:spPr>
          <a:xfrm>
            <a:off x="6163056" y="35204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739128" y="3200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Label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739128" y="36118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Maze / Grid / Radial / Periphery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56032" y="4663440"/>
            <a:ext cx="8631936" cy="347472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40" name="Shape 38"/>
          <p:cNvSpPr/>
          <p:nvPr/>
        </p:nvSpPr>
        <p:spPr>
          <a:xfrm>
            <a:off x="256032" y="4663440"/>
            <a:ext cx="54864" cy="3474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1" name="Text 39"/>
          <p:cNvSpPr/>
          <p:nvPr/>
        </p:nvSpPr>
        <p:spPr>
          <a:xfrm>
            <a:off x="384048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outcome: k = 4 clusters mapping to the four archetype types, validated against known Dhaka neighbourhoods.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Key Methodological Deviations from the Proposal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77240"/>
            <a:ext cx="8631936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777240"/>
            <a:ext cx="64008" cy="9601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822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 Type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Was: 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58952" y="1234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only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06040" y="12344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822A"/>
                </a:solidFill>
              </a:rPr>
              <a:t>→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80360" y="123444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64408" y="12344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roads (footpaths, lanes, service roads)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813816"/>
            <a:ext cx="27432" cy="88696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850392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drive excluded Old Dhaka's goli lanes — clustering measured OSM coverage, not topology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" y="1847088"/>
            <a:ext cx="8631936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" y="1847088"/>
            <a:ext cx="64008" cy="960120"/>
          </a:xfrm>
          <a:prstGeom prst="rect">
            <a:avLst/>
          </a:prstGeom>
          <a:solidFill>
            <a:srgbClr val="2563AB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18928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Bounding Box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2304288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Was: 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58952" y="23042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= 23.85°N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06040" y="230428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822A"/>
                </a:solidFill>
              </a:rPr>
              <a:t>→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880360" y="230428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64408" y="23042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= 23.95°N (Uttara, Diabari included)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0" y="1883664"/>
            <a:ext cx="27432" cy="88696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1920240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Truncated bbox removed the clearest planned Grid zones from the dataset entirely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6032" y="2916936"/>
            <a:ext cx="8631936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2916936"/>
            <a:ext cx="64008" cy="960120"/>
          </a:xfrm>
          <a:prstGeom prst="rect">
            <a:avLst/>
          </a:prstGeom>
          <a:solidFill>
            <a:srgbClr val="D4822A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296265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82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Set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" y="3374136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Was: 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58952" y="33741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features, reciprocity, raw path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06040" y="337413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822A"/>
                </a:solidFill>
              </a:rPr>
              <a:t>→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880360" y="337413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64408" y="337413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features — Gini fixed, entropy, normalised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43600" y="2953512"/>
            <a:ext cx="27432" cy="88696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3" name="Text 31"/>
          <p:cNvSpPr/>
          <p:nvPr/>
        </p:nvSpPr>
        <p:spPr>
          <a:xfrm>
            <a:off x="6035040" y="2990088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Gini formula gave negative values; reciprocity saturated at 0.98 across all zones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56032" y="3986784"/>
            <a:ext cx="8631936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56032" y="3986784"/>
            <a:ext cx="64008" cy="96012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36" name="Text 34"/>
          <p:cNvSpPr/>
          <p:nvPr/>
        </p:nvSpPr>
        <p:spPr>
          <a:xfrm>
            <a:off x="411480" y="4032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Labelling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11480" y="4443984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Was: 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58952" y="44439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Archetypes imposed by formula score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606040" y="444398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822A"/>
                </a:solidFill>
              </a:rPr>
              <a:t>→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880360" y="4443984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264408" y="444398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V3–V4: data-driven neutral Cluster_0/1 labels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943600" y="4023360"/>
            <a:ext cx="27432" cy="88696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3" name="Text 41"/>
          <p:cNvSpPr/>
          <p:nvPr/>
        </p:nvSpPr>
        <p:spPr>
          <a:xfrm>
            <a:off x="6035040" y="4059936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Archetype scoring forced Western typologies onto patterns unique to South Asian cities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27 Topological Features — Three Functional Groups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2743200" cy="4251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749808"/>
            <a:ext cx="2743200" cy="4114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749808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Structural Topology (V1 baseline)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243584"/>
            <a:ext cx="64008" cy="6400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773936"/>
            <a:ext cx="64008" cy="6400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" y="17190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transitivity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304288"/>
            <a:ext cx="64008" cy="6400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" y="22494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avg_clustering_coef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64008" cy="6400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" y="27797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avg_degree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364992"/>
            <a:ext cx="64008" cy="6400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" y="33101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n_scc / n_wcc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895344"/>
            <a:ext cx="64008" cy="6400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" y="3840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gscc_pct / gwcc_pct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4425696"/>
            <a:ext cx="64008" cy="6400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" y="43708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path_length_p90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0" y="749808"/>
            <a:ext cx="2743200" cy="4251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749808"/>
            <a:ext cx="2743200" cy="411480"/>
          </a:xfrm>
          <a:prstGeom prst="rect">
            <a:avLst/>
          </a:prstGeom>
          <a:solidFill>
            <a:srgbClr val="D4822A"/>
          </a:solidFill>
          <a:ln/>
        </p:spPr>
      </p:sp>
      <p:sp>
        <p:nvSpPr>
          <p:cNvPr id="23" name="Text 21"/>
          <p:cNvSpPr/>
          <p:nvPr/>
        </p:nvSpPr>
        <p:spPr>
          <a:xfrm>
            <a:off x="3310128" y="749808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V2 Corrections &amp; Additions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10128" y="1243584"/>
            <a:ext cx="64008" cy="64008"/>
          </a:xfrm>
          <a:prstGeom prst="rect">
            <a:avLst/>
          </a:prstGeom>
          <a:solidFill>
            <a:srgbClr val="D4822A"/>
          </a:solidFill>
          <a:ln/>
        </p:spPr>
      </p:sp>
      <p:sp>
        <p:nvSpPr>
          <p:cNvPr id="25" name="Text 23"/>
          <p:cNvSpPr/>
          <p:nvPr/>
        </p:nvSpPr>
        <p:spPr>
          <a:xfrm>
            <a:off x="342900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orientation_entropy  ← replaces reciprocity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10128" y="1773936"/>
            <a:ext cx="64008" cy="64008"/>
          </a:xfrm>
          <a:prstGeom prst="rect">
            <a:avLst/>
          </a:prstGeom>
          <a:solidFill>
            <a:srgbClr val="D4822A"/>
          </a:solidFill>
          <a:ln/>
        </p:spPr>
      </p:sp>
      <p:sp>
        <p:nvSpPr>
          <p:cNvPr id="27" name="Text 25"/>
          <p:cNvSpPr/>
          <p:nvPr/>
        </p:nvSpPr>
        <p:spPr>
          <a:xfrm>
            <a:off x="3429000" y="17190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wcc_fragmentation   ← periphery detector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10128" y="2304288"/>
            <a:ext cx="64008" cy="64008"/>
          </a:xfrm>
          <a:prstGeom prst="rect">
            <a:avLst/>
          </a:prstGeom>
          <a:solidFill>
            <a:srgbClr val="D4822A"/>
          </a:solidFill>
          <a:ln/>
        </p:spPr>
      </p:sp>
      <p:sp>
        <p:nvSpPr>
          <p:cNvPr id="29" name="Text 27"/>
          <p:cNvSpPr/>
          <p:nvPr/>
        </p:nvSpPr>
        <p:spPr>
          <a:xfrm>
            <a:off x="3429000" y="22494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hub_dominance_ratio ← radial detector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10128" y="2834640"/>
            <a:ext cx="64008" cy="64008"/>
          </a:xfrm>
          <a:prstGeom prst="rect">
            <a:avLst/>
          </a:prstGeom>
          <a:solidFill>
            <a:srgbClr val="D4822A"/>
          </a:solidFill>
          <a:ln/>
        </p:spPr>
      </p:sp>
      <p:sp>
        <p:nvSpPr>
          <p:cNvPr id="31" name="Text 29"/>
          <p:cNvSpPr/>
          <p:nvPr/>
        </p:nvSpPr>
        <p:spPr>
          <a:xfrm>
            <a:off x="3429000" y="27797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path_length_p90_norm ← size corrected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310128" y="3364992"/>
            <a:ext cx="64008" cy="64008"/>
          </a:xfrm>
          <a:prstGeom prst="rect">
            <a:avLst/>
          </a:prstGeom>
          <a:solidFill>
            <a:srgbClr val="D4822A"/>
          </a:solidFill>
          <a:ln/>
        </p:spPr>
      </p:sp>
      <p:sp>
        <p:nvSpPr>
          <p:cNvPr id="33" name="Text 31"/>
          <p:cNvSpPr/>
          <p:nvPr/>
        </p:nvSpPr>
        <p:spPr>
          <a:xfrm>
            <a:off x="3429000" y="33101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betweenness_gini    ← formula fixed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310128" y="3895344"/>
            <a:ext cx="64008" cy="64008"/>
          </a:xfrm>
          <a:prstGeom prst="rect">
            <a:avLst/>
          </a:prstGeom>
          <a:solidFill>
            <a:srgbClr val="D4822A"/>
          </a:solidFill>
          <a:ln/>
        </p:spPr>
      </p:sp>
      <p:sp>
        <p:nvSpPr>
          <p:cNvPr id="35" name="Text 33"/>
          <p:cNvSpPr/>
          <p:nvPr/>
        </p:nvSpPr>
        <p:spPr>
          <a:xfrm>
            <a:off x="3429000" y="3840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mean_strength_norm  ← normalised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44768" y="749808"/>
            <a:ext cx="2743200" cy="4251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44768" y="749808"/>
            <a:ext cx="2743200" cy="411480"/>
          </a:xfrm>
          <a:prstGeom prst="rect">
            <a:avLst/>
          </a:prstGeom>
          <a:solidFill>
            <a:srgbClr val="0D7C8C"/>
          </a:solidFill>
          <a:ln/>
        </p:spPr>
      </p:sp>
      <p:sp>
        <p:nvSpPr>
          <p:cNvPr id="38" name="Text 36"/>
          <p:cNvSpPr/>
          <p:nvPr/>
        </p:nvSpPr>
        <p:spPr>
          <a:xfrm>
            <a:off x="6254496" y="749808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Centrality Features (LCC-scoped)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54496" y="1243584"/>
            <a:ext cx="64008" cy="64008"/>
          </a:xfrm>
          <a:prstGeom prst="rect">
            <a:avLst/>
          </a:prstGeom>
          <a:solidFill>
            <a:srgbClr val="0D7C8C"/>
          </a:solidFill>
          <a:ln/>
        </p:spPr>
      </p:sp>
      <p:sp>
        <p:nvSpPr>
          <p:cNvPr id="40" name="Text 38"/>
          <p:cNvSpPr/>
          <p:nvPr/>
        </p:nvSpPr>
        <p:spPr>
          <a:xfrm>
            <a:off x="6373368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mean_in/out_degree_centrality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54496" y="1773936"/>
            <a:ext cx="64008" cy="64008"/>
          </a:xfrm>
          <a:prstGeom prst="rect">
            <a:avLst/>
          </a:prstGeom>
          <a:solidFill>
            <a:srgbClr val="0D7C8C"/>
          </a:solidFill>
          <a:ln/>
        </p:spPr>
      </p:sp>
      <p:sp>
        <p:nvSpPr>
          <p:cNvPr id="42" name="Text 40"/>
          <p:cNvSpPr/>
          <p:nvPr/>
        </p:nvSpPr>
        <p:spPr>
          <a:xfrm>
            <a:off x="6373368" y="17190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mean_closeness_centrality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254496" y="2304288"/>
            <a:ext cx="64008" cy="64008"/>
          </a:xfrm>
          <a:prstGeom prst="rect">
            <a:avLst/>
          </a:prstGeom>
          <a:solidFill>
            <a:srgbClr val="0D7C8C"/>
          </a:solidFill>
          <a:ln/>
        </p:spPr>
      </p:sp>
      <p:sp>
        <p:nvSpPr>
          <p:cNvPr id="44" name="Text 42"/>
          <p:cNvSpPr/>
          <p:nvPr/>
        </p:nvSpPr>
        <p:spPr>
          <a:xfrm>
            <a:off x="6373368" y="22494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mean_betweenness_centrality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254496" y="2834640"/>
            <a:ext cx="64008" cy="64008"/>
          </a:xfrm>
          <a:prstGeom prst="rect">
            <a:avLst/>
          </a:prstGeom>
          <a:solidFill>
            <a:srgbClr val="0D7C8C"/>
          </a:solidFill>
          <a:ln/>
        </p:spPr>
      </p:sp>
      <p:sp>
        <p:nvSpPr>
          <p:cNvPr id="46" name="Text 44"/>
          <p:cNvSpPr/>
          <p:nvPr/>
        </p:nvSpPr>
        <p:spPr>
          <a:xfrm>
            <a:off x="6373368" y="27797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mean_katz_centrality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254496" y="3364992"/>
            <a:ext cx="64008" cy="64008"/>
          </a:xfrm>
          <a:prstGeom prst="rect">
            <a:avLst/>
          </a:prstGeom>
          <a:solidFill>
            <a:srgbClr val="0D7C8C"/>
          </a:solidFill>
          <a:ln/>
        </p:spPr>
      </p:sp>
      <p:sp>
        <p:nvSpPr>
          <p:cNvPr id="48" name="Text 46"/>
          <p:cNvSpPr/>
          <p:nvPr/>
        </p:nvSpPr>
        <p:spPr>
          <a:xfrm>
            <a:off x="6373368" y="33101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mean_pagerank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254496" y="3895344"/>
            <a:ext cx="64008" cy="64008"/>
          </a:xfrm>
          <a:prstGeom prst="rect">
            <a:avLst/>
          </a:prstGeom>
          <a:solidFill>
            <a:srgbClr val="0D7C8C"/>
          </a:solidFill>
          <a:ln/>
        </p:spPr>
      </p:sp>
      <p:sp>
        <p:nvSpPr>
          <p:cNvPr id="50" name="Text 48"/>
          <p:cNvSpPr/>
          <p:nvPr/>
        </p:nvSpPr>
        <p:spPr>
          <a:xfrm>
            <a:off x="6373368" y="3840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global_efficiency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254496" y="4425696"/>
            <a:ext cx="64008" cy="64008"/>
          </a:xfrm>
          <a:prstGeom prst="rect">
            <a:avLst/>
          </a:prstGeom>
          <a:solidFill>
            <a:srgbClr val="0D7C8C"/>
          </a:solidFill>
          <a:ln/>
        </p:spPr>
      </p:sp>
      <p:sp>
        <p:nvSpPr>
          <p:cNvPr id="52" name="Text 50"/>
          <p:cNvSpPr/>
          <p:nvPr/>
        </p:nvSpPr>
        <p:spPr>
          <a:xfrm>
            <a:off x="6373368" y="43708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local_efficiency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256032" y="4727448"/>
            <a:ext cx="8631936" cy="32004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54" name="Text 52"/>
          <p:cNvSpPr/>
          <p:nvPr/>
        </p:nvSpPr>
        <p:spPr>
          <a:xfrm>
            <a:off x="365760" y="47274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Features that consistently discriminated across all 4 versions:  global_efficiency  ·  gwcc_pct  ·  wcc_fragmentation  ·  betweenness_gini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Version 1: Baseline — 1 km Grid / Drive Network / Imposed Archetypes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1965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04672"/>
            <a:ext cx="196596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" y="969264"/>
            <a:ext cx="196596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469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56032" y="1435608"/>
            <a:ext cx="196596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analysed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804672"/>
            <a:ext cx="1965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0" y="804672"/>
            <a:ext cx="196596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969264"/>
            <a:ext cx="196596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 = 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468880" y="1435608"/>
            <a:ext cx="196596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cluster count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81728" y="804672"/>
            <a:ext cx="1965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81728" y="804672"/>
            <a:ext cx="1965960" cy="54864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14" name="Text 12"/>
          <p:cNvSpPr/>
          <p:nvPr/>
        </p:nvSpPr>
        <p:spPr>
          <a:xfrm>
            <a:off x="4681728" y="969264"/>
            <a:ext cx="196596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6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0.366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681728" y="1435608"/>
            <a:ext cx="196596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94576" y="804672"/>
            <a:ext cx="1965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94576" y="804672"/>
            <a:ext cx="196596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6894576" y="969264"/>
            <a:ext cx="196596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57 / 43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894576" y="1435608"/>
            <a:ext cx="196596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Maze / Grid split 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" y="1993392"/>
            <a:ext cx="4133088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84048" y="20756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clusters showed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2468880"/>
            <a:ext cx="4096512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" y="2468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194560" y="24688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00400" y="24688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2816352"/>
            <a:ext cx="4096512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" y="28163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count (mean)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194560" y="281635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719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00400" y="281635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163824"/>
            <a:ext cx="4096512" cy="347472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1" name="Text 29"/>
          <p:cNvSpPr/>
          <p:nvPr/>
        </p:nvSpPr>
        <p:spPr>
          <a:xfrm>
            <a:off x="347472" y="31638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efficiency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194560" y="316382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0.088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00400" y="316382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0.238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511296"/>
            <a:ext cx="4096512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347472" y="351129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gwcc_pct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194560" y="351129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93.2%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00400" y="351129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82.7%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3858768"/>
            <a:ext cx="4096512" cy="347472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9" name="Text 37"/>
          <p:cNvSpPr/>
          <p:nvPr/>
        </p:nvSpPr>
        <p:spPr>
          <a:xfrm>
            <a:off x="347472" y="38587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Closeness centrality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194560" y="385876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0.056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200400" y="385876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0.165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" y="4206240"/>
            <a:ext cx="4096512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347472" y="4206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194560" y="42062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0.761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200400" y="42062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0.709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53712" y="1993392"/>
            <a:ext cx="4315968" cy="2926080"/>
          </a:xfrm>
          <a:prstGeom prst="rect">
            <a:avLst/>
          </a:prstGeom>
          <a:solidFill>
            <a:srgbClr val="FDEDE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553712" y="1993392"/>
            <a:ext cx="4315968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8" name="Text 46"/>
          <p:cNvSpPr/>
          <p:nvPr/>
        </p:nvSpPr>
        <p:spPr>
          <a:xfrm>
            <a:off x="4663440" y="19933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Critical Diagnosis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663440" y="2468880"/>
            <a:ext cx="4069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9.3× node count gap (Grid: 77, Maze: 719) is </a:t>
            </a:r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 from what urban morphology predicts.</a:t>
            </a:r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Dhaka should have MORE nodes than Uttara — not fewer. The inversion occurred because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network_type='drive' excluded Old Dhaka's goli lanes</a:t>
            </a:r>
            <a:pPr indent="0" marL="0">
              <a:buNone/>
            </a:pPr>
            <a:r>
              <a:rPr lang="en-US" sz="11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while capturing all of Uttara's grid streets.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measured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 coverage anisotropy</a:t>
            </a:r>
            <a:pPr indent="0" marL="0">
              <a:buNone/>
            </a:pPr>
            <a:r>
              <a:rPr lang="en-US" sz="11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road classification — not urban topology. The feature heatmap was perfectly binary: a single size confound dominated all 23 features.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563A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Version 2: All-Roads Network + Corrected Features — Imposed Labels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1965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04672"/>
            <a:ext cx="1965960" cy="54864"/>
          </a:xfrm>
          <a:prstGeom prst="rect">
            <a:avLst/>
          </a:prstGeom>
          <a:solidFill>
            <a:srgbClr val="2563AB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" y="969264"/>
            <a:ext cx="196596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563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821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56032" y="1435608"/>
            <a:ext cx="196596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(+75% vs V1)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804672"/>
            <a:ext cx="1965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0" y="804672"/>
            <a:ext cx="1965960" cy="54864"/>
          </a:xfrm>
          <a:prstGeom prst="rect">
            <a:avLst/>
          </a:prstGeom>
          <a:solidFill>
            <a:srgbClr val="2563AB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969264"/>
            <a:ext cx="196596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563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 = 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468880" y="1435608"/>
            <a:ext cx="196596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cluster count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81728" y="804672"/>
            <a:ext cx="1965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81728" y="804672"/>
            <a:ext cx="1965960" cy="54864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14" name="Text 12"/>
          <p:cNvSpPr/>
          <p:nvPr/>
        </p:nvSpPr>
        <p:spPr>
          <a:xfrm>
            <a:off x="4681728" y="969264"/>
            <a:ext cx="196596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6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0.420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681728" y="1435608"/>
            <a:ext cx="196596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(↑ +0.054)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94576" y="804672"/>
            <a:ext cx="1965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94576" y="804672"/>
            <a:ext cx="1965960" cy="54864"/>
          </a:xfrm>
          <a:prstGeom prst="rect">
            <a:avLst/>
          </a:prstGeom>
          <a:solidFill>
            <a:srgbClr val="2563AB"/>
          </a:solidFill>
          <a:ln/>
        </p:spPr>
      </p:sp>
      <p:sp>
        <p:nvSpPr>
          <p:cNvPr id="18" name="Text 16"/>
          <p:cNvSpPr/>
          <p:nvPr/>
        </p:nvSpPr>
        <p:spPr>
          <a:xfrm>
            <a:off x="6894576" y="969264"/>
            <a:ext cx="196596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563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79 / 21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894576" y="1435608"/>
            <a:ext cx="196596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Maze / Grid split 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" y="1993392"/>
            <a:ext cx="4133088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84048" y="20756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Improved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4048" y="2487168"/>
            <a:ext cx="38404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more zones — organic network fully captured
</a:t>
            </a:r>
            <a:pPr indent="0" marL="0">
              <a:buNone/>
            </a:pPr>
            <a:r>
              <a:rPr lang="en-US" sz="12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improved 0.366 → 0.420
</a:t>
            </a:r>
            <a:pPr indent="0" marL="0">
              <a:buNone/>
            </a:pPr>
            <a:r>
              <a:rPr lang="en-US" sz="12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formula corrected (was negative — now 0–1)
</a:t>
            </a:r>
            <a:pPr indent="0" marL="0">
              <a:buNone/>
            </a:pPr>
            <a:r>
              <a:rPr lang="en-US" sz="12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wcc_fragmentation clearly separates clusters (0.021 vs 0.109)
</a:t>
            </a:r>
            <a:pPr indent="0" marL="0">
              <a:buNone/>
            </a:pPr>
            <a:r>
              <a:rPr lang="en-US" sz="12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global_efficiency gap widened: 0.116 vs 0.303
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53712" y="1993392"/>
            <a:ext cx="4315968" cy="2926080"/>
          </a:xfrm>
          <a:prstGeom prst="rect">
            <a:avLst/>
          </a:prstGeom>
          <a:solidFill>
            <a:srgbClr val="FEF9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53712" y="1993392"/>
            <a:ext cx="4315968" cy="411480"/>
          </a:xfrm>
          <a:prstGeom prst="rect">
            <a:avLst/>
          </a:prstGeom>
          <a:solidFill>
            <a:srgbClr val="D4822A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19933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What Still Failed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63440" y="2468880"/>
            <a:ext cx="4069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orientation_entropy </a:t>
            </a:r>
            <a:pPr indent="0" marL="0">
              <a:buNone/>
            </a:pPr>
            <a:r>
              <a:rPr lang="en-US" sz="11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to discriminate:
</a:t>
            </a:r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Grid 3.502 vs Maze 3.557 — gap of only 0.055
   Dhaka's lake perimeters force curved roads in planned zones too
</a:t>
            </a:r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hub_dominance_ratio </a:t>
            </a:r>
            <a:pPr indent="0" marL="0">
              <a:buNone/>
            </a:pPr>
            <a:r>
              <a:rPr lang="en-US" sz="11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identical (1.676 vs 1.620)
</a:t>
            </a:r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No radial archetype detected
</a:t>
            </a:r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DBSCAN </a:t>
            </a:r>
            <a:pPr indent="0" marL="0">
              <a:buNone/>
            </a:pPr>
            <a:r>
              <a:rPr lang="en-US" sz="11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collapsed to 1 cluster — no density-based separation
</a:t>
            </a:r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'Grid' cluster = peripheral fragmented zones, not planned grids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7C8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Version 3: Data-Driven Labels — Removing Western Archetypes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1965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04672"/>
            <a:ext cx="1965960" cy="54864"/>
          </a:xfrm>
          <a:prstGeom prst="rect">
            <a:avLst/>
          </a:prstGeom>
          <a:solidFill>
            <a:srgbClr val="0D7C8C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" y="969264"/>
            <a:ext cx="196596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7C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827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56032" y="1435608"/>
            <a:ext cx="196596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(≈ V2)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804672"/>
            <a:ext cx="1965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0" y="804672"/>
            <a:ext cx="1965960" cy="54864"/>
          </a:xfrm>
          <a:prstGeom prst="rect">
            <a:avLst/>
          </a:prstGeom>
          <a:solidFill>
            <a:srgbClr val="0D7C8C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969264"/>
            <a:ext cx="196596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7C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 = 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468880" y="1435608"/>
            <a:ext cx="196596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cluster count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81728" y="804672"/>
            <a:ext cx="1965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81728" y="804672"/>
            <a:ext cx="1965960" cy="54864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14" name="Text 12"/>
          <p:cNvSpPr/>
          <p:nvPr/>
        </p:nvSpPr>
        <p:spPr>
          <a:xfrm>
            <a:off x="4681728" y="969264"/>
            <a:ext cx="196596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6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0.408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681728" y="1435608"/>
            <a:ext cx="196596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(≈ V2)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94576" y="804672"/>
            <a:ext cx="1965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94576" y="804672"/>
            <a:ext cx="1965960" cy="54864"/>
          </a:xfrm>
          <a:prstGeom prst="rect">
            <a:avLst/>
          </a:prstGeom>
          <a:solidFill>
            <a:srgbClr val="0D7C8C"/>
          </a:solidFill>
          <a:ln/>
        </p:spPr>
      </p:sp>
      <p:sp>
        <p:nvSpPr>
          <p:cNvPr id="18" name="Text 16"/>
          <p:cNvSpPr/>
          <p:nvPr/>
        </p:nvSpPr>
        <p:spPr>
          <a:xfrm>
            <a:off x="6894576" y="969264"/>
            <a:ext cx="196596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7C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78 / 22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894576" y="1435608"/>
            <a:ext cx="196596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Cluster_1 / Cluster_0 %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" y="1993392"/>
            <a:ext cx="4133088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84048" y="20756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C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Cluster Profiles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2468880"/>
            <a:ext cx="4096512" cy="338328"/>
          </a:xfrm>
          <a:prstGeom prst="rect">
            <a:avLst/>
          </a:prstGeom>
          <a:solidFill>
            <a:srgbClr val="0D7C8C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" y="246888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76272" y="2468880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Cluster_0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18688" y="2468880"/>
            <a:ext cx="11155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Cluster_1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2807208"/>
            <a:ext cx="4096512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" y="2807208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count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176272" y="2807208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184 (22%)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18688" y="2807208"/>
            <a:ext cx="11155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643 (78%)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145536"/>
            <a:ext cx="4096512" cy="338328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1" name="Text 29"/>
          <p:cNvSpPr/>
          <p:nvPr/>
        </p:nvSpPr>
        <p:spPr>
          <a:xfrm>
            <a:off x="347472" y="3145536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global_efficiency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176272" y="3145536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18688" y="3145536"/>
            <a:ext cx="11155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0.108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483864"/>
            <a:ext cx="4096512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347472" y="3483864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gwcc_pct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176272" y="3483864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75.9%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18688" y="3483864"/>
            <a:ext cx="11155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92.7%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3822192"/>
            <a:ext cx="4096512" cy="338328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9" name="Text 37"/>
          <p:cNvSpPr/>
          <p:nvPr/>
        </p:nvSpPr>
        <p:spPr>
          <a:xfrm>
            <a:off x="347472" y="3822192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wcc_fragmentation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176272" y="3822192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0.099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218688" y="3822192"/>
            <a:ext cx="11155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0.020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" y="4160520"/>
            <a:ext cx="4096512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347472" y="416052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betweenness_gini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176272" y="4160520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0.574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218688" y="4160520"/>
            <a:ext cx="11155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0.675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4498848"/>
            <a:ext cx="4096512" cy="338328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47" name="Text 45"/>
          <p:cNvSpPr/>
          <p:nvPr/>
        </p:nvSpPr>
        <p:spPr>
          <a:xfrm>
            <a:off x="347472" y="4498848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orientation_entropy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176272" y="4498848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3.560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218688" y="4498848"/>
            <a:ext cx="11155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3.580 ← identical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53712" y="1993392"/>
            <a:ext cx="4315968" cy="2926080"/>
          </a:xfrm>
          <a:prstGeom prst="rect">
            <a:avLst/>
          </a:prstGeom>
          <a:solidFill>
            <a:srgbClr val="EBF5F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553712" y="1993392"/>
            <a:ext cx="4315968" cy="411480"/>
          </a:xfrm>
          <a:prstGeom prst="rect">
            <a:avLst/>
          </a:prstGeom>
          <a:solidFill>
            <a:srgbClr val="0D7C8C"/>
          </a:solidFill>
          <a:ln/>
        </p:spPr>
      </p:sp>
      <p:sp>
        <p:nvSpPr>
          <p:cNvPr id="52" name="Text 50"/>
          <p:cNvSpPr/>
          <p:nvPr/>
        </p:nvSpPr>
        <p:spPr>
          <a:xfrm>
            <a:off x="4663440" y="19933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 from V3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4663440" y="2468880"/>
            <a:ext cx="4069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Western archetype labels produced </a:t>
            </a:r>
            <a:pPr indent="0" marL="0">
              <a:buNone/>
            </a:pPr>
            <a:r>
              <a:rPr lang="en-US" sz="1200" b="1" dirty="0">
                <a:solidFill>
                  <a:srgbClr val="0D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change in cluster structure.</a:t>
            </a:r>
            <a:pPr indent="0" marL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The k=2 result is not an artefact of the labelling system — it is a genuine property of Dhaka's road network in feature space.
</a:t>
            </a:r>
            <a:pPr indent="0" marL="0">
              <a:buNone/>
            </a:pPr>
            <a:r>
              <a:rPr lang="en-US" sz="1200" b="1" dirty="0">
                <a:solidFill>
                  <a:srgbClr val="256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Cluster_0 (22%) = Peripheral fragmented zones
</a:t>
            </a:r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gwcc_pct (75.9%), high wcc_fragmentation — incomplete road infrastructure at the city edge
</a:t>
            </a:r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Cluster_1 (78%) = Dense connected urban core
</a:t>
            </a:r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gwcc_pct (92.7%), high betweenness Gini — few critical junctions carry most of the network flow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D482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Version 4: Scale Experiment — 2 km Grid / Best Silhouette / Extreme Split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1965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04672"/>
            <a:ext cx="1965960" cy="54864"/>
          </a:xfrm>
          <a:prstGeom prst="rect">
            <a:avLst/>
          </a:prstGeom>
          <a:solidFill>
            <a:srgbClr val="D4822A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" y="969264"/>
            <a:ext cx="196596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82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226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56032" y="1435608"/>
            <a:ext cx="196596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(↓ from 827)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804672"/>
            <a:ext cx="1965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0" y="804672"/>
            <a:ext cx="1965960" cy="54864"/>
          </a:xfrm>
          <a:prstGeom prst="rect">
            <a:avLst/>
          </a:prstGeom>
          <a:solidFill>
            <a:srgbClr val="D4822A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969264"/>
            <a:ext cx="196596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82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 = 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468880" y="1435608"/>
            <a:ext cx="196596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cluster count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81728" y="804672"/>
            <a:ext cx="1965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81728" y="804672"/>
            <a:ext cx="1965960" cy="54864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14" name="Text 12"/>
          <p:cNvSpPr/>
          <p:nvPr/>
        </p:nvSpPr>
        <p:spPr>
          <a:xfrm>
            <a:off x="4681728" y="969264"/>
            <a:ext cx="196596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6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0.551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681728" y="1435608"/>
            <a:ext cx="196596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(best ever)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94576" y="804672"/>
            <a:ext cx="1965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94576" y="804672"/>
            <a:ext cx="1965960" cy="54864"/>
          </a:xfrm>
          <a:prstGeom prst="rect">
            <a:avLst/>
          </a:prstGeom>
          <a:solidFill>
            <a:srgbClr val="D4822A"/>
          </a:solidFill>
          <a:ln/>
        </p:spPr>
      </p:sp>
      <p:sp>
        <p:nvSpPr>
          <p:cNvPr id="18" name="Text 16"/>
          <p:cNvSpPr/>
          <p:nvPr/>
        </p:nvSpPr>
        <p:spPr>
          <a:xfrm>
            <a:off x="6894576" y="969264"/>
            <a:ext cx="196596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82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91 / 9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894576" y="1435608"/>
            <a:ext cx="196596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Cluster_0 / Cluster_1 %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" y="1993392"/>
            <a:ext cx="4133088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84048" y="20756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82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2km Cluster Profiles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2468880"/>
            <a:ext cx="4096512" cy="33832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" y="246888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76272" y="2468880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Cluster_0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18688" y="2468880"/>
            <a:ext cx="11155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Cluster_1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2807208"/>
            <a:ext cx="4096512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" y="2807208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176272" y="2807208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 (91%)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18688" y="2807208"/>
            <a:ext cx="11155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(9%)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145536"/>
            <a:ext cx="4096512" cy="338328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1" name="Text 29"/>
          <p:cNvSpPr/>
          <p:nvPr/>
        </p:nvSpPr>
        <p:spPr>
          <a:xfrm>
            <a:off x="347472" y="3145536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node_count (mean)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176272" y="3145536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1,264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18688" y="3145536"/>
            <a:ext cx="11155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83.8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483864"/>
            <a:ext cx="4096512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347472" y="3483864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gwcc_pct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176272" y="3483864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93.6%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18688" y="3483864"/>
            <a:ext cx="11155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61.4%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3822192"/>
            <a:ext cx="4096512" cy="338328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9" name="Text 37"/>
          <p:cNvSpPr/>
          <p:nvPr/>
        </p:nvSpPr>
        <p:spPr>
          <a:xfrm>
            <a:off x="347472" y="3822192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global_efficiency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176272" y="3822192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0.079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218688" y="3822192"/>
            <a:ext cx="11155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0.255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" y="4160520"/>
            <a:ext cx="4096512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347472" y="416052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betweenness_gini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176272" y="4160520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0.716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218688" y="4160520"/>
            <a:ext cx="11155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0.596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4498848"/>
            <a:ext cx="4096512" cy="338328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47" name="Text 45"/>
          <p:cNvSpPr/>
          <p:nvPr/>
        </p:nvSpPr>
        <p:spPr>
          <a:xfrm>
            <a:off x="347472" y="4498848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orientation_entropy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176272" y="4498848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3.700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218688" y="4498848"/>
            <a:ext cx="11155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3.650 ← still no gap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53712" y="1993392"/>
            <a:ext cx="4315968" cy="2926080"/>
          </a:xfrm>
          <a:prstGeom prst="rect">
            <a:avLst/>
          </a:prstGeom>
          <a:solidFill>
            <a:srgbClr val="FEF9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553712" y="1993392"/>
            <a:ext cx="4315968" cy="411480"/>
          </a:xfrm>
          <a:prstGeom prst="rect">
            <a:avLst/>
          </a:prstGeom>
          <a:solidFill>
            <a:srgbClr val="D4822A"/>
          </a:solidFill>
          <a:ln/>
        </p:spPr>
      </p:sp>
      <p:sp>
        <p:nvSpPr>
          <p:cNvPr id="52" name="Text 50"/>
          <p:cNvSpPr/>
          <p:nvPr/>
        </p:nvSpPr>
        <p:spPr>
          <a:xfrm>
            <a:off x="4663440" y="19933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4663440" y="2468880"/>
            <a:ext cx="4069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silhouette (0.551) but most extreme split (91/9).
</a:t>
            </a:r>
            <a:pPr indent="0" marL="0">
              <a:buNone/>
            </a:pPr>
            <a:r>
              <a:rPr lang="en-US" sz="11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2 km scale, every cell is large enough to average planned + organic layers — the same problem that affected 1 km cells at the block scale now repeats at the neighbourhood scale.
</a:t>
            </a:r>
            <a:pPr indent="0" marL="0">
              <a:buNone/>
            </a:pPr>
            <a:r>
              <a:rPr lang="en-US" sz="11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PCA scatter shows </a:t>
            </a:r>
            <a:pPr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Cluster_0 as a dense compact cloud</a:t>
            </a:r>
            <a:pPr indent="0" marL="0">
              <a:buNone/>
            </a:pPr>
            <a:r>
              <a:rPr lang="en-US" sz="11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while the 20 peripheral zones (Cluster_1) are widely dispersed — confirming the minority cluster is heterogeneous rather than a coherent type.
</a:t>
            </a:r>
            <a:pPr indent="0" marL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orientation_entropy again shows near-zero discriminating power across all 226 zones.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Comparative Results — Silhouette Scores &amp; Cluster Splits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56032" y="777240"/>
          <a:ext cx="502920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440680" y="777240"/>
          <a:ext cx="352044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Discrimination — What Works vs. What Fails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58952"/>
            <a:ext cx="1828800" cy="38404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" y="7589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94560" y="758952"/>
            <a:ext cx="1097280" cy="38404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2194560" y="75895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Gap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758952"/>
            <a:ext cx="1097280" cy="38404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75895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Gap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758952"/>
            <a:ext cx="1097280" cy="38404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75895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Gap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77840" y="758952"/>
            <a:ext cx="1097280" cy="38404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5577840" y="75895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Gap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20840" y="758952"/>
            <a:ext cx="2011680" cy="38404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6720840" y="7589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Discriminates?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" y="1207008"/>
            <a:ext cx="8631936" cy="475488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7" name="Text 15"/>
          <p:cNvSpPr/>
          <p:nvPr/>
        </p:nvSpPr>
        <p:spPr>
          <a:xfrm>
            <a:off x="292608" y="120700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global_efficiency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94560" y="120700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120700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0.187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80560" y="120700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0.178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77840" y="120700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0.176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30568" y="1298448"/>
            <a:ext cx="1737360" cy="292608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23" name="Text 21"/>
          <p:cNvSpPr/>
          <p:nvPr/>
        </p:nvSpPr>
        <p:spPr>
          <a:xfrm>
            <a:off x="6830568" y="12984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6032" y="1682496"/>
            <a:ext cx="8631936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292608" y="168249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gwcc_pct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94560" y="1682496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83280" y="1682496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480560" y="1682496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16.8%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77840" y="1682496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32.2%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830568" y="1773936"/>
            <a:ext cx="1737360" cy="292608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31" name="Text 29"/>
          <p:cNvSpPr/>
          <p:nvPr/>
        </p:nvSpPr>
        <p:spPr>
          <a:xfrm>
            <a:off x="6830568" y="177393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56032" y="2157984"/>
            <a:ext cx="8631936" cy="475488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3" name="Text 31"/>
          <p:cNvSpPr/>
          <p:nvPr/>
        </p:nvSpPr>
        <p:spPr>
          <a:xfrm>
            <a:off x="292608" y="215798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wcc_fragmentation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194560" y="2157984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83280" y="2157984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480560" y="2157984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0.079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577840" y="2157984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0.075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830568" y="2249424"/>
            <a:ext cx="1737360" cy="292608"/>
          </a:xfrm>
          <a:prstGeom prst="rect">
            <a:avLst/>
          </a:prstGeom>
          <a:solidFill>
            <a:srgbClr val="2563AB"/>
          </a:solidFill>
          <a:ln/>
        </p:spPr>
      </p:sp>
      <p:sp>
        <p:nvSpPr>
          <p:cNvPr id="39" name="Text 37"/>
          <p:cNvSpPr/>
          <p:nvPr/>
        </p:nvSpPr>
        <p:spPr>
          <a:xfrm>
            <a:off x="6830568" y="224942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56032" y="2633472"/>
            <a:ext cx="8631936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292608" y="263347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betweenness_gini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194560" y="263347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383280" y="263347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0.099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480560" y="263347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0.101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577840" y="263347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0.120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830568" y="2724912"/>
            <a:ext cx="1737360" cy="292608"/>
          </a:xfrm>
          <a:prstGeom prst="rect">
            <a:avLst/>
          </a:prstGeom>
          <a:solidFill>
            <a:srgbClr val="2563AB"/>
          </a:solidFill>
          <a:ln/>
        </p:spPr>
      </p:sp>
      <p:sp>
        <p:nvSpPr>
          <p:cNvPr id="47" name="Text 45"/>
          <p:cNvSpPr/>
          <p:nvPr/>
        </p:nvSpPr>
        <p:spPr>
          <a:xfrm>
            <a:off x="6830568" y="272491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56032" y="3108960"/>
            <a:ext cx="8631936" cy="475488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49" name="Text 47"/>
          <p:cNvSpPr/>
          <p:nvPr/>
        </p:nvSpPr>
        <p:spPr>
          <a:xfrm>
            <a:off x="292608" y="31089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194560" y="310896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0.034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383280" y="310896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0.044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480560" y="310896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0.041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577840" y="310896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0.026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830568" y="3200400"/>
            <a:ext cx="1737360" cy="292608"/>
          </a:xfrm>
          <a:prstGeom prst="rect">
            <a:avLst/>
          </a:prstGeom>
          <a:solidFill>
            <a:srgbClr val="2563AB"/>
          </a:solidFill>
          <a:ln/>
        </p:spPr>
      </p:sp>
      <p:sp>
        <p:nvSpPr>
          <p:cNvPr id="55" name="Text 53"/>
          <p:cNvSpPr/>
          <p:nvPr/>
        </p:nvSpPr>
        <p:spPr>
          <a:xfrm>
            <a:off x="6830568" y="32004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56032" y="3584448"/>
            <a:ext cx="8631936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292608" y="35844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hub_dominance_ratio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2194560" y="358444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3383280" y="358444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0.056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480560" y="358444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0.075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577840" y="358444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0.152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830568" y="3675888"/>
            <a:ext cx="1737360" cy="292608"/>
          </a:xfrm>
          <a:prstGeom prst="rect">
            <a:avLst/>
          </a:prstGeom>
          <a:solidFill>
            <a:srgbClr val="D4822A"/>
          </a:solidFill>
          <a:ln/>
        </p:spPr>
      </p:sp>
      <p:sp>
        <p:nvSpPr>
          <p:cNvPr id="63" name="Text 61"/>
          <p:cNvSpPr/>
          <p:nvPr/>
        </p:nvSpPr>
        <p:spPr>
          <a:xfrm>
            <a:off x="6830568" y="367588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256032" y="4059936"/>
            <a:ext cx="8631936" cy="475488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65" name="Text 63"/>
          <p:cNvSpPr/>
          <p:nvPr/>
        </p:nvSpPr>
        <p:spPr>
          <a:xfrm>
            <a:off x="292608" y="405993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orientation_entropy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2194560" y="4059936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3383280" y="4059936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0.055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4480560" y="4059936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0.020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577840" y="4059936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0.050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6830568" y="4151376"/>
            <a:ext cx="1737360" cy="2926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1" name="Text 69"/>
          <p:cNvSpPr/>
          <p:nvPr/>
        </p:nvSpPr>
        <p:spPr>
          <a:xfrm>
            <a:off x="6830568" y="415137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256032" y="4535424"/>
            <a:ext cx="8631936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Text 71"/>
          <p:cNvSpPr/>
          <p:nvPr/>
        </p:nvSpPr>
        <p:spPr>
          <a:xfrm>
            <a:off x="292608" y="453542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reciprocity (V1)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2194560" y="4535424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3383280" y="4535424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4480560" y="4535424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5577840" y="4535424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6830568" y="4626864"/>
            <a:ext cx="1737360" cy="2926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9" name="Text 77"/>
          <p:cNvSpPr/>
          <p:nvPr/>
        </p:nvSpPr>
        <p:spPr>
          <a:xfrm>
            <a:off x="6830568" y="462686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D482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773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9A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Core Finding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182880"/>
            <a:ext cx="56692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Dhaka Exhibits a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Connectivity Spectrum —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Discrete Archetypes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20040" y="2926080"/>
            <a:ext cx="2606040" cy="1965960"/>
          </a:xfrm>
          <a:prstGeom prst="rect">
            <a:avLst/>
          </a:prstGeom>
          <a:solidFill>
            <a:srgbClr val="2B4F7A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926080"/>
            <a:ext cx="2606040" cy="54864"/>
          </a:xfrm>
          <a:prstGeom prst="rect">
            <a:avLst/>
          </a:prstGeom>
          <a:solidFill>
            <a:srgbClr val="D4822A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3017520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82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 = 2 in all 4 versions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38912" y="3538728"/>
            <a:ext cx="23591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across every network type, feature set, and labelling strategy — multi-criteria confirmed by Silhouette AND Calinski-Harabasz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27832" y="2926080"/>
            <a:ext cx="2606040" cy="1965960"/>
          </a:xfrm>
          <a:prstGeom prst="rect">
            <a:avLst/>
          </a:prstGeom>
          <a:solidFill>
            <a:srgbClr val="2B4F7A"/>
          </a:solidFill>
          <a:ln/>
        </p:spPr>
      </p:sp>
      <p:sp>
        <p:nvSpPr>
          <p:cNvPr id="10" name="Shape 8"/>
          <p:cNvSpPr/>
          <p:nvPr/>
        </p:nvSpPr>
        <p:spPr>
          <a:xfrm>
            <a:off x="3227832" y="2926080"/>
            <a:ext cx="2606040" cy="54864"/>
          </a:xfrm>
          <a:prstGeom prst="rect">
            <a:avLst/>
          </a:prstGeom>
          <a:solidFill>
            <a:srgbClr val="D4822A"/>
          </a:solidFill>
          <a:ln/>
        </p:spPr>
      </p:sp>
      <p:sp>
        <p:nvSpPr>
          <p:cNvPr id="11" name="Text 9"/>
          <p:cNvSpPr/>
          <p:nvPr/>
        </p:nvSpPr>
        <p:spPr>
          <a:xfrm>
            <a:off x="3346704" y="3017520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82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 = 4 silhouette 25–35% below k = 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346704" y="3538728"/>
            <a:ext cx="23591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version penalises the proposed four-cluster structure. The expected archetype solution is statistically rejected.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35624" y="2926080"/>
            <a:ext cx="2606040" cy="1965960"/>
          </a:xfrm>
          <a:prstGeom prst="rect">
            <a:avLst/>
          </a:prstGeom>
          <a:solidFill>
            <a:srgbClr val="2B4F7A"/>
          </a:solidFill>
          <a:ln/>
        </p:spPr>
      </p:sp>
      <p:sp>
        <p:nvSpPr>
          <p:cNvPr id="14" name="Shape 12"/>
          <p:cNvSpPr/>
          <p:nvPr/>
        </p:nvSpPr>
        <p:spPr>
          <a:xfrm>
            <a:off x="6135624" y="2926080"/>
            <a:ext cx="2606040" cy="54864"/>
          </a:xfrm>
          <a:prstGeom prst="rect">
            <a:avLst/>
          </a:prstGeom>
          <a:solidFill>
            <a:srgbClr val="D4822A"/>
          </a:solidFill>
          <a:ln/>
        </p:spPr>
      </p:sp>
      <p:sp>
        <p:nvSpPr>
          <p:cNvPr id="15" name="Text 13"/>
          <p:cNvSpPr/>
          <p:nvPr/>
        </p:nvSpPr>
        <p:spPr>
          <a:xfrm>
            <a:off x="6254496" y="3017520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82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DBSCAN: 1 cluster, 4 versions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54496" y="3538728"/>
            <a:ext cx="23591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density-based separation in feature space — the data forms a continuous distribution, not discrete clumps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26480" y="182880"/>
            <a:ext cx="2743200" cy="2606040"/>
          </a:xfrm>
          <a:prstGeom prst="rect">
            <a:avLst/>
          </a:prstGeom>
          <a:solidFill>
            <a:srgbClr val="2B4F7A"/>
          </a:solidFill>
          <a:ln/>
        </p:spPr>
      </p:sp>
      <p:sp>
        <p:nvSpPr>
          <p:cNvPr id="18" name="Text 16"/>
          <p:cNvSpPr/>
          <p:nvPr/>
        </p:nvSpPr>
        <p:spPr>
          <a:xfrm>
            <a:off x="6236208" y="27432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clusters that
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36208" y="621792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82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exist are real: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36208" y="1024128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High-connectivity dense core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(78–91% of zones)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36208" y="1572768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Low-connectivity peripheral fringe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(9–22% of zones)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Dhaka Resists Classification — Literature Grounding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822960"/>
            <a:ext cx="8631936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22960"/>
            <a:ext cx="73152" cy="74980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20624" y="82296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Porta et al. (2006)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331720" y="859536"/>
            <a:ext cx="18288" cy="65836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Text 6"/>
          <p:cNvSpPr/>
          <p:nvPr/>
        </p:nvSpPr>
        <p:spPr>
          <a:xfrm>
            <a:off x="2450592" y="822960"/>
            <a:ext cx="6309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Bologna, Barcelona, Venice — primal graph archetypes work in cities with segregated morphological zones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1673352"/>
            <a:ext cx="8631936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673352"/>
            <a:ext cx="73152" cy="749808"/>
          </a:xfrm>
          <a:prstGeom prst="rect">
            <a:avLst/>
          </a:prstGeom>
          <a:solidFill>
            <a:srgbClr val="2563AB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" y="1673352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Boeing (2019)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331720" y="1709928"/>
            <a:ext cx="18288" cy="65836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" name="Text 11"/>
          <p:cNvSpPr/>
          <p:nvPr/>
        </p:nvSpPr>
        <p:spPr>
          <a:xfrm>
            <a:off x="2450592" y="1673352"/>
            <a:ext cx="6309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 entropy effective for grid vs. organic in 100 cities — but tested on cities without lake-perimeter curvature effects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" y="2523744"/>
            <a:ext cx="8631936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" y="2523744"/>
            <a:ext cx="73152" cy="749808"/>
          </a:xfrm>
          <a:prstGeom prst="rect">
            <a:avLst/>
          </a:prstGeom>
          <a:solidFill>
            <a:srgbClr val="D4822A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" y="2523744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82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 et al. (2011)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331720" y="2560320"/>
            <a:ext cx="18288" cy="65836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" name="Text 16"/>
          <p:cNvSpPr/>
          <p:nvPr/>
        </p:nvSpPr>
        <p:spPr>
          <a:xfrm>
            <a:off x="2450592" y="2523744"/>
            <a:ext cx="6309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Asian megacity networks are historical palimpsests — planned fragments embedded in organic fabric at every scale → continuous gradient, not zones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" y="3374136"/>
            <a:ext cx="8631936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3374136"/>
            <a:ext cx="73152" cy="749808"/>
          </a:xfrm>
          <a:prstGeom prst="rect">
            <a:avLst/>
          </a:prstGeom>
          <a:solidFill>
            <a:srgbClr val="0D7C8C"/>
          </a:solidFill>
          <a:ln/>
        </p:spPr>
      </p:sp>
      <p:sp>
        <p:nvSpPr>
          <p:cNvPr id="21" name="Text 19"/>
          <p:cNvSpPr/>
          <p:nvPr/>
        </p:nvSpPr>
        <p:spPr>
          <a:xfrm>
            <a:off x="420624" y="3374136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7C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Taubenböck et al. (2017)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331720" y="3410712"/>
            <a:ext cx="18288" cy="65836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3" name="Text 21"/>
          <p:cNvSpPr/>
          <p:nvPr/>
        </p:nvSpPr>
        <p:spPr>
          <a:xfrm>
            <a:off x="2450592" y="3374136"/>
            <a:ext cx="6309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Delhi's morphology cannot be meaningfully classified by Western archetypes below ward level — 500m grid works, 100–200m does not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6032" y="4224528"/>
            <a:ext cx="8631936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4224528"/>
            <a:ext cx="73152" cy="749808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26" name="Text 24"/>
          <p:cNvSpPr/>
          <p:nvPr/>
        </p:nvSpPr>
        <p:spPr>
          <a:xfrm>
            <a:off x="420624" y="4224528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6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Islam (2005)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331720" y="4261104"/>
            <a:ext cx="18288" cy="65836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8" name="Text 26"/>
          <p:cNvSpPr/>
          <p:nvPr/>
        </p:nvSpPr>
        <p:spPr>
          <a:xfrm>
            <a:off x="2450592" y="4224528"/>
            <a:ext cx="6309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Dhaka: five interleaved morphological logics, none spatially segregated — planned and organic coexist in the same 1km cell at every location in the city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Alternative Classification Approaches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77240"/>
            <a:ext cx="2724912" cy="22128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777240"/>
            <a:ext cx="2724912" cy="384048"/>
          </a:xfrm>
          <a:prstGeom prst="rect">
            <a:avLst/>
          </a:prstGeom>
          <a:solidFill>
            <a:srgbClr val="2563AB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777240"/>
            <a:ext cx="2587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Spectral Clustering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" y="1234440"/>
            <a:ext cx="258775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on zone-similarity graph — detects non-convex, elongated clusters K-Means cannot find. May reveal finer structure in Dhaka's continuous PCA manifold.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" y="2532888"/>
            <a:ext cx="2542032" cy="27432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2587752"/>
            <a:ext cx="2587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Difficulty setting kernel bandwidth without ground truth labels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777240"/>
            <a:ext cx="2724912" cy="22128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777240"/>
            <a:ext cx="2724912" cy="384048"/>
          </a:xfrm>
          <a:prstGeom prst="rect">
            <a:avLst/>
          </a:prstGeom>
          <a:solidFill>
            <a:srgbClr val="0D7C8C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777240"/>
            <a:ext cx="2587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Hierarchical Agglomerative (HAC)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1234440"/>
            <a:ext cx="258775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dendrogram showing cluster hierarchy at all levels simultaneously. Reveals whether data supports k=2, then k=4, or remains flat.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2532888"/>
            <a:ext cx="2542032" cy="27432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2587752"/>
            <a:ext cx="2587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Computational cost for 827+ zones with full linkage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44768" y="777240"/>
            <a:ext cx="2724912" cy="22128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777240"/>
            <a:ext cx="2724912" cy="384048"/>
          </a:xfrm>
          <a:prstGeom prst="rect">
            <a:avLst/>
          </a:prstGeom>
          <a:solidFill>
            <a:srgbClr val="D4822A"/>
          </a:solidFill>
          <a:ln/>
        </p:spPr>
      </p:sp>
      <p:sp>
        <p:nvSpPr>
          <p:cNvPr id="18" name="Text 16"/>
          <p:cNvSpPr/>
          <p:nvPr/>
        </p:nvSpPr>
        <p:spPr>
          <a:xfrm>
            <a:off x="6236208" y="777240"/>
            <a:ext cx="2587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Self-Organising Maps (SOM)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36208" y="1234440"/>
            <a:ext cx="258775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27D feature space onto 2D grid preserving topology. If Dhaka's zones form a connected manifold (confirmed continuous spectrum) vs. islands (discrete types).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36208" y="2532888"/>
            <a:ext cx="2542032" cy="27432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6236208" y="2587752"/>
            <a:ext cx="2587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Fleischmann et al. (2021) — used for urban morphology gradients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6032" y="324612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6032" y="3246120"/>
            <a:ext cx="4023360" cy="38404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" y="324612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RAJUK Supervised Classification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7472" y="370332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Reframe as supervised: use RAJUK land-use zones as ground truth. Does topology predict planning intent? Answerable question with clear null hypothesis.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" y="4572000"/>
            <a:ext cx="3840480" cy="27432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" y="4617720"/>
            <a:ext cx="3886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Recommended next step — converts discovery problem to validation problem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324612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3246120"/>
            <a:ext cx="4023360" cy="384048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324612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Thana-Level Analysis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54880" y="370332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boundaries more closely follow historical morphological zones than a regular grid. Requires distributed graph processing (cuGraph/GraphX) for 50k–300k node subgraphs.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4572000"/>
            <a:ext cx="3840480" cy="27432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4617720"/>
            <a:ext cx="3886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Computationally infeasible with NetworkX in-memory — needs GPU infrastructure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8631936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04672"/>
            <a:ext cx="73152" cy="7498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420624" y="804672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OSM Data Completeness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03120" y="841248"/>
            <a:ext cx="18288" cy="65836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Text 6"/>
          <p:cNvSpPr/>
          <p:nvPr/>
        </p:nvSpPr>
        <p:spPr>
          <a:xfrm>
            <a:off x="2212848" y="804672"/>
            <a:ext cx="6492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 zones had completeness ratios below 0.3 — up to 70% of road network absent. Clustering in these zones reflects data sparsity as much as genuine topology. Barrington-Leigh &amp; Millard-Ball (2017): Bangladesh OSM ~83% complete overall, but urban core coverage &gt;&gt; rural.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6032" y="1645920"/>
            <a:ext cx="8631936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645920"/>
            <a:ext cx="73152" cy="749808"/>
          </a:xfrm>
          <a:prstGeom prst="rect">
            <a:avLst/>
          </a:prstGeom>
          <a:solidFill>
            <a:srgbClr val="D4822A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" y="1645920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82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km Scale Mismatch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03120" y="1682496"/>
            <a:ext cx="18288" cy="65836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" name="Text 11"/>
          <p:cNvSpPr/>
          <p:nvPr/>
        </p:nvSpPr>
        <p:spPr>
          <a:xfrm>
            <a:off x="2212848" y="1645920"/>
            <a:ext cx="6492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sits between Dhaka's two meaningful morphological scales — micro blocks (100–300m) and neighbourhoods (3–5km). Every 1km cell contains a similar mixture of planned skeleton + organic infill, making all zones statistically similar.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6032" y="2487168"/>
            <a:ext cx="8631936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" y="2487168"/>
            <a:ext cx="73152" cy="749808"/>
          </a:xfrm>
          <a:prstGeom prst="rect">
            <a:avLst/>
          </a:prstGeom>
          <a:solidFill>
            <a:srgbClr val="2563AB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" y="2487168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Orientation Entropy Failure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103120" y="2523744"/>
            <a:ext cx="18288" cy="65836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" name="Text 16"/>
          <p:cNvSpPr/>
          <p:nvPr/>
        </p:nvSpPr>
        <p:spPr>
          <a:xfrm>
            <a:off x="2212848" y="2487168"/>
            <a:ext cx="6492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fails in Dhaka due to lake-perimeter curvature (Dhanmondi) creating artificial high entropy in planned zones, and informal lane networks following slow-varying parcel edges producing moderate (not high) entropy.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56032" y="3328416"/>
            <a:ext cx="8631936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3328416"/>
            <a:ext cx="73152" cy="749808"/>
          </a:xfrm>
          <a:prstGeom prst="rect">
            <a:avLst/>
          </a:prstGeom>
          <a:solidFill>
            <a:srgbClr val="0D7C8C"/>
          </a:solidFill>
          <a:ln/>
        </p:spPr>
      </p:sp>
      <p:sp>
        <p:nvSpPr>
          <p:cNvPr id="21" name="Text 19"/>
          <p:cNvSpPr/>
          <p:nvPr/>
        </p:nvSpPr>
        <p:spPr>
          <a:xfrm>
            <a:off x="420624" y="3328416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C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Thana-Level Infeasibility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103120" y="3364992"/>
            <a:ext cx="18288" cy="65836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3" name="Text 21"/>
          <p:cNvSpPr/>
          <p:nvPr/>
        </p:nvSpPr>
        <p:spPr>
          <a:xfrm>
            <a:off x="2212848" y="3328416"/>
            <a:ext cx="6492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Thana subgraphs at all-roads level: 50,000–300,000 nodes. NetworkX O(n²/n³) scaling made computation &gt; 45 min per thana. Requires Apache Spark GraphX or NVIDIA cuGraph (GPU) infrastructure.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56032" y="4169664"/>
            <a:ext cx="8631936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4169664"/>
            <a:ext cx="73152" cy="749808"/>
          </a:xfrm>
          <a:prstGeom prst="rect">
            <a:avLst/>
          </a:prstGeom>
          <a:solidFill>
            <a:srgbClr val="5D6D7E"/>
          </a:solidFill>
          <a:ln/>
        </p:spPr>
      </p:sp>
      <p:sp>
        <p:nvSpPr>
          <p:cNvPr id="26" name="Text 24"/>
          <p:cNvSpPr/>
          <p:nvPr/>
        </p:nvSpPr>
        <p:spPr>
          <a:xfrm>
            <a:off x="420624" y="4169664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D6D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Single-City Scope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103120" y="4206240"/>
            <a:ext cx="18288" cy="65836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8" name="Text 26"/>
          <p:cNvSpPr/>
          <p:nvPr/>
        </p:nvSpPr>
        <p:spPr>
          <a:xfrm>
            <a:off x="2212848" y="4169664"/>
            <a:ext cx="6492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specific to Dhaka. Cities with more uniform planning history (Chandigarh, Islamabad) may cluster cleanly. Cities with even greater complexity (Kolkata, Mumbai) may show weaker clustering still.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D482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Four Versions Proved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697480" cy="3429000"/>
          </a:xfrm>
          <a:prstGeom prst="rect">
            <a:avLst/>
          </a:prstGeom>
          <a:solidFill>
            <a:srgbClr val="2B4F7A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417320"/>
            <a:ext cx="2697480" cy="54864"/>
          </a:xfrm>
          <a:prstGeom prst="rect">
            <a:avLst/>
          </a:prstGeom>
          <a:solidFill>
            <a:srgbClr val="D4822A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5087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82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Methodology Journey IS the Result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2240280"/>
            <a:ext cx="24688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V1→V4 did not fail to cluster Dhaka — it demonstrated that Dhaka resists the clustering framework. Each version corrected a real failure and the k=2 result survived every correction. Resistance is empirically meaningful.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4408" y="1417320"/>
            <a:ext cx="2697480" cy="3429000"/>
          </a:xfrm>
          <a:prstGeom prst="rect">
            <a:avLst/>
          </a:prstGeom>
          <a:solidFill>
            <a:srgbClr val="2B4F7A"/>
          </a:solidFill>
          <a:ln/>
        </p:spPr>
      </p:sp>
      <p:sp>
        <p:nvSpPr>
          <p:cNvPr id="10" name="Shape 8"/>
          <p:cNvSpPr/>
          <p:nvPr/>
        </p:nvSpPr>
        <p:spPr>
          <a:xfrm>
            <a:off x="3264408" y="1417320"/>
            <a:ext cx="2697480" cy="54864"/>
          </a:xfrm>
          <a:prstGeom prst="rect">
            <a:avLst/>
          </a:prstGeom>
          <a:solidFill>
            <a:srgbClr val="0D7C8C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5087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C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Two Clusters Are Actionable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2240280"/>
            <a:ext cx="24688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High-connectivity dense core vs. low-connectivity peripheral fringe — geographically stable across all versions. Low-connectivity zones (9–22%) are where infrastructure investment has highest network-wide impact.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08776" y="1417320"/>
            <a:ext cx="2697480" cy="3429000"/>
          </a:xfrm>
          <a:prstGeom prst="rect">
            <a:avLst/>
          </a:prstGeom>
          <a:solidFill>
            <a:srgbClr val="2B4F7A"/>
          </a:solidFill>
          <a:ln/>
        </p:spPr>
      </p:sp>
      <p:sp>
        <p:nvSpPr>
          <p:cNvPr id="14" name="Shape 12"/>
          <p:cNvSpPr/>
          <p:nvPr/>
        </p:nvSpPr>
        <p:spPr>
          <a:xfrm>
            <a:off x="6208776" y="1417320"/>
            <a:ext cx="2697480" cy="54864"/>
          </a:xfrm>
          <a:prstGeom prst="rect">
            <a:avLst/>
          </a:prstGeom>
          <a:solidFill>
            <a:srgbClr val="2563AB"/>
          </a:solidFill>
          <a:ln/>
        </p:spPr>
      </p:sp>
      <p:sp>
        <p:nvSpPr>
          <p:cNvPr id="15" name="Text 13"/>
          <p:cNvSpPr/>
          <p:nvPr/>
        </p:nvSpPr>
        <p:spPr>
          <a:xfrm>
            <a:off x="6327648" y="15087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Recommended Next Step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27648" y="2240280"/>
            <a:ext cx="24688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classification using RAJUK land-use zones as ground truth. Reframes: 'discover archetypes?' → 'does topology predict planning intent?' A tractable, answerable research question.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48006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Mehzad Galib  |  Md. Sabbir Hossain  ·  BUET  ·  February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Dhaka Topology Framework — Full Results</dc:title>
  <dc:subject>PptxGenJS Presentation</dc:subject>
  <dc:creator>Mehzad Galib | Md. Sabbir Hossain</dc:creator>
  <cp:lastModifiedBy>Mehzad Galib | Md. Sabbir Hossain</cp:lastModifiedBy>
  <cp:revision>1</cp:revision>
  <dcterms:created xsi:type="dcterms:W3CDTF">2026-02-23T23:10:02Z</dcterms:created>
  <dcterms:modified xsi:type="dcterms:W3CDTF">2026-02-23T23:10:02Z</dcterms:modified>
</cp:coreProperties>
</file>